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465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201168" cy="201168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3" name="Text 1"/>
          <p:cNvSpPr txBox="1"/>
          <p:nvPr/>
        </p:nvSpPr>
        <p:spPr>
          <a:xfrm>
            <a:off x="960120" y="6217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u="sng" dirty="0">
                <a:solidFill>
                  <a:srgbClr val="26211B"/>
                </a:solidFill>
                <a:uFill>
                  <a:solidFill>
                    <a:srgbClr val="26211B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delivers.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 first. Build fast. Measure everything. Full EU compliance.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640080" y="45262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EUR 100,000 for the first buildup. No exit fairy tale, built for the long run.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Schranz · Vienna · a.p.schranz@icloud.com · +43 676 344 7611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515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8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talks about it.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4884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executes.</a:t>
            </a:r>
            <a:endParaRPr lang="en-US" sz="6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u="sng" dirty="0">
                <a:solidFill>
                  <a:srgbClr val="C8452C"/>
                </a:solidFill>
                <a:uFill>
                  <a:solidFill>
                    <a:srgbClr val="C8452C"/>
                  </a:solidFill>
                </a:uFill>
                <a:latin typeface="Cambria" pitchFamily="34" charset="0"/>
                <a:ea typeface="Cambria" pitchFamily="34" charset="-122"/>
                <a:cs typeface="Cambria" pitchFamily="34" charset="-120"/>
              </a:rPr>
              <a:t>Until now.</a:t>
            </a:r>
            <a:endParaRPr lang="en-US" sz="62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475488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640080" y="521208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of AI pilots deliver nothing measurable. This agency exists to be the other 5%.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 in three honest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38328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6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GenAI pilots deliver no measurable business return, across industries and company sizes.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4434840" y="2057400"/>
            <a:ext cx="338328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443484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$30-40bn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37033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spent by corporations on generative AI every year: licences, pilots, consulting. The budget is real, the execution is not.</a:t>
            </a:r>
            <a:endParaRPr lang="en-US" sz="1550" dirty="0"/>
          </a:p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close that gap.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229600" y="2057400"/>
            <a:ext cx="338328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8229600" y="224028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3703320"/>
            <a:ext cx="33832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engineered to perfection, live in production, not on slides.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742432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Text 12"/>
          <p:cNvSpPr txBox="1"/>
          <p:nvPr/>
        </p:nvSpPr>
        <p:spPr>
          <a:xfrm>
            <a:off x="640080" y="581558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for both market figures: MIT Media Lab, The GenAI Divide: State of AI in Business 2025. Data basis: about 300 analysed enterprise AI deployments, surveys of 150+ executives, 52 in-depth interviews. The study's core finding: the cause is not the technology but the missing integration into real workflows.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6" name="Text 14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turned everyone into an AI user.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227685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295144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AI is not building AI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2313432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Prompting produces answers. Production needs specifications, data models, tests and governance.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330098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319272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Almost nobody learned to build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94960" y="33375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an impressive demo and a system that runs on Monday, 95 percent of projects die.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97096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432511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A7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3434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learned it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4361688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live in production, built in 2026 alongside a full sales quota.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221224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5349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6752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talk, more action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5385816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engagement starts with a diagnosis and ends with a working system. Nothing in between is billable theatre.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 ·  Diagnosis before tools, system before slides.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4767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194767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processes per department: how the business actually runs.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724912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281635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84378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843784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pain points one by one, back each with real data on how and why a process should improve.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621024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371246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73989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first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3739896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in days instead of a concept paper in months.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517136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460857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63600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measure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97680" y="46360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criteria, automated tests, working time measured before and after.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541324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550468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5321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 &amp; deliver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5532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GDPR, licensing, EU AI Act in the data model. Documentation, training, handover without lock-in.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5" name="Text 2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1 · Lead intelligence system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energy sector,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640080" y="22768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585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and list building by hand, manual CRM matching against 22,000 records, duplicate outreach as a customer risk.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36484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6301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27,000 lines of Python: scoring, multi-stage dedupe, two-stage HubSpot export with locking. In 9 weeks, roughly 400 hours of agent orchestration.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 txBox="1"/>
          <p:nvPr/>
        </p:nvSpPr>
        <p:spPr>
          <a:xfrm>
            <a:off x="640080" y="50200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50017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2,299 companies captured, 720 validated upload-ready. Batch prep per 50 leads cut from hours of manual work to a reviewed run in minutes. 400+ automated tests, every metric with a population definition.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2 · Energy community platform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Operations, 104 real existing clients,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640080" y="22768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585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104 managed energy communities in one Excel list. No map, no member process, GDPR nowhere systematic.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36484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6301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Austria map on official open data, geocoding, member pipeline, direct xlsx import. GDPR mandatory fields at schema level.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 txBox="1"/>
          <p:nvPr/>
        </p:nvSpPr>
        <p:spPr>
          <a:xfrm>
            <a:off x="640080" y="50200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50017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Excel to a live, mapped platform within one working day. 104 communities integrated, 67 auto-positioned, 53 checks green.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3 · SDR Workmod Hub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operating system on Notion, built and run solo since June 2026 · C-level access self-sourced with it, incl. Tesla, voestalpine BOHLER, XXXLutz, KTM, Manner, GLOCK (earned in the role)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6" name="Text 4"/>
          <p:cNvSpPr txBox="1"/>
          <p:nvPr/>
        </p:nvSpPr>
        <p:spPr>
          <a:xfrm>
            <a:off x="640080" y="22768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585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knowledge living in heads only: no onboarding path, compliance as personal discipline, decisions scattered across chats, no traceability.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520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36484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36301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workflow with a pre-draft compliance gate: before any draft, mandatory verification of identity, role and channel (company register, imprint) against Austrian TKG, German UWG, the 2025 federal court ruling and GDPR Art. 21, plus public-procurement screening. Append-only decision log, checkpointed onboarding path, per-industry template library.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48920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2" name="Text 10"/>
          <p:cNvSpPr txBox="1"/>
          <p:nvPr/>
        </p:nvSpPr>
        <p:spPr>
          <a:xfrm>
            <a:off x="640080" y="5020056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5001768"/>
            <a:ext cx="84124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Apr to 31 Jul: 2,570 calls, 66 booked meetings, about 4.2 per week, July alone 21 qualified meetings and 1 close. New-SDR onboarding possible without shadowing, every process decision since June traceable.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5" name="Text 1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economics  ·  Profitable without you. Fast with you.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2139696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Prices, real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39696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Opportunity Audit EUR 6,500-9,500 · Build Sprint EUR 18,000-28,000 · Retainer EUR 3,500-6,000/month. Fixed prices, no day-rate lottery.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33756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640080" y="3465576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1, conservative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291840" y="3465576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audits, 5 sprints, 2 retainers make roughly EUR 190,000 revenue at minimal fixed cost. The agency carries itself from the first clients.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640080" y="4791456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capital then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4791456"/>
            <a:ext cx="8321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raise I grow linearly with my time. With it, in parallel: a second vertical, a first product module, a first hire. Capital buys speed, not survival.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4" name="Text 12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method is sector-agnostic  ·  Every industry has lists, processes and compliance. Three I know from the inside.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8928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11096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Beachhead. Network, domain logic, two shipped systems. Energy communities grow and drown in administration.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0515600" y="1892808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27889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280720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Lived it: rail infrastructure projects and a trade apprenticeship. Material flow, subcontractors, documentation duties. Low digitization, high pain.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0" y="27889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3685032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840480" y="370332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it myself: Vendor Central, Shopify, SAGE. Built and used my own AI tool for warranty claims.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0" y="36850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4581144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agencies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4599432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data processes, reporting, list upkeep. High willingness to pay for measured time savings.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0" y="4581144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5477256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 services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840480" y="549554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advisors, property managers, law firms: document-driven, ideal for verified automation.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0" y="5477256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5" name="Text 2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legally sound, from GDPR to the AI Act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837944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GDPR by design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856232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bases and information duties (Art. 13/14) as mandatory fields in the data model, deletion concepts, per-record disclosure capability.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640080" y="2679192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Lawful outreach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6974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choice before campaign: Austrian TKG, German UWG. Compliance decides the process, not the other way round.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640080" y="35204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License-checked data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3538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checked before use: ODbL vs CC-BY, attribution, share-alike. No silent licensing risks in the product.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Text 12"/>
          <p:cNvSpPr txBox="1"/>
          <p:nvPr/>
        </p:nvSpPr>
        <p:spPr>
          <a:xfrm>
            <a:off x="640080" y="43616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 AI Act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4379976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and documentation duties carried along from the start, not retrofitted.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102352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5202936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trails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840480" y="522122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logged, every number recomputable. Auditability is a feature, not an add-on.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94360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0" name="Text 18"/>
          <p:cNvSpPr txBox="1"/>
          <p:nvPr/>
        </p:nvSpPr>
        <p:spPr>
          <a:xfrm>
            <a:off x="640080" y="601675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conservative market: runs locally without forced cloud, open data sources, German-language documentation, handover without lock-in, pilot to full scale without changing architecture.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2" name="Text 20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Long-term value creation  ·  No exit. Assets that compound.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90195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202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from month 1 and pattern recognition: every sprint shows what industries need repeatedly.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679192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2770632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798064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modules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816352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become recurring revenue: outbound compliance gate, community platform, verification toolkit.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575304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3666744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9417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712464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Playbooks, per-jurisdiction compliance blocks, data source catalogs: every solved industry makes the next one cheaper.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471416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4562856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9028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in the conservative market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54880" y="4608576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with measured numbers and auditable work create pricing power that does not walk away.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36752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5458968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54864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 and optionality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5504688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Profits get distributed, product spin-outs remain as upside for investors.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25" name="Text 23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term instead of exit  ·  Building toward a global market.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Q4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2651760" y="2002536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in Vienna. Three pilot clients in energy. Brand, website, certificates.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92608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640080" y="303580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2027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3054096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clients, construction and e-commerce verticals each with a reference case. First product module: a compliance and knowledge operating layer for outbound teams (compliance gate, decision log, onboarding as code) on top of the existing CRM. First hire.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640080" y="408736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2028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4105656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DACH established, EU expansion remote-first. Product line next to consulting. Team of 4-6.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502920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4" name="Text 12"/>
          <p:cNvSpPr txBox="1"/>
          <p:nvPr/>
        </p:nvSpPr>
        <p:spPr>
          <a:xfrm>
            <a:off x="640080" y="5138928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2029+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2651760" y="5157216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remote: the method works wherever processes, lists and EU-grade compliance are needed. Studio model. No sale, distributions from profit.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raise  ·  EUR 100,000 for the first buildup, twelve months.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40,000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874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runway, 12 months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526280" y="185623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work full time on client projects instead of bridge jobs. About EUR 3,300 per month, minimum draw.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640080" y="2505456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9" name="Text 7"/>
          <p:cNvSpPr txBox="1"/>
          <p:nvPr/>
        </p:nvSpPr>
        <p:spPr>
          <a:xfrm>
            <a:off x="640080" y="2596896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25,000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59689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578608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patterns become the first sellable module: a compliance gate for outbound teams. Roughly 4 months of build time, bought-in specialist work included.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40080" y="3227832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3319272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13,000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3192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brand, website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3300984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Website, brand, trade events and association access in energy and construction, first campaigns. The channel that brings the 10 clients.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40080" y="3950208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7" name="Text 15"/>
          <p:cNvSpPr txBox="1"/>
          <p:nvPr/>
        </p:nvSpPr>
        <p:spPr>
          <a:xfrm>
            <a:off x="640080" y="4041648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10,000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31720" y="404164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and tooling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4023360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usage for agent orchestration, development environment, hosting of client systems.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40080" y="4672584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1" name="Text 19"/>
          <p:cNvSpPr txBox="1"/>
          <p:nvPr/>
        </p:nvSpPr>
        <p:spPr>
          <a:xfrm>
            <a:off x="640080" y="4764024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7,000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76402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insurance, GDPR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4745736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Incorporation, terms and contracts, professional liability, GDPR framework, tax advice. Mandatory in a regulated market.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640080" y="5394960"/>
            <a:ext cx="676656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5" name="Text 23"/>
          <p:cNvSpPr txBox="1"/>
          <p:nvPr/>
        </p:nvSpPr>
        <p:spPr>
          <a:xfrm>
            <a:off x="640080" y="5486400"/>
            <a:ext cx="1600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5,000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548640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5468112"/>
            <a:ext cx="2880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for payment terms and the unforeseen.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7863840" y="1737360"/>
            <a:ext cx="0" cy="429768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29" name="Text 27"/>
          <p:cNvSpPr txBox="1"/>
          <p:nvPr/>
        </p:nvSpPr>
        <p:spPr>
          <a:xfrm>
            <a:off x="81838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money comes back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240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what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25146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consulting revenue starting month 1, not from a future valuation. Year 1 conservatively about EUR 190,000 at minimal fixed cost.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2278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502152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Repayment from month 7, quarterly, out of running cash flow.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4215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183880" y="4489704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10 % of revenue until EUR 200,000 has flowed back, that is 2x on 100,000. On plan, repaid in roughly 30 months.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52029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5477256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revenue share: 10 % equity with profit distributions from year 2, plus a conversion right if a product module is spun out.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40080" y="6053328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39" name="Text 37"/>
          <p:cNvSpPr txBox="1"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i="1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you measure me against: M 3 three paying clients, first measured before-and-after case  ·  M 6 second vertical live with reference case  ·  M 9 first product module with recurring revenue  ·  M 12 10+ clients, three verticals, team of 2-3, profitable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41" name="Text 39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C845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without an exit fairy tale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5" name="Text 3"/>
          <p:cNvSpPr txBox="1"/>
          <p:nvPr/>
        </p:nvSpPr>
        <p:spPr>
          <a:xfrm>
            <a:off x="640080" y="204825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exit as a strategy</a:t>
            </a:r>
            <a:endParaRPr lang="en-US" sz="15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2048256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company is built to stay. If you need a 10x exit story, this is the wrong deal, and I would rather say that now than in three years.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8" name="Text 6"/>
          <p:cNvSpPr txBox="1"/>
          <p:nvPr/>
        </p:nvSpPr>
        <p:spPr>
          <a:xfrm>
            <a:off x="640080" y="341985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paths to returns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3419856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revenue share up to an agreed cap, paid from real cash flow. B: equity with profit distributions from year 2. C: conversion right if a product module is spun out.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1" name="Text 9"/>
          <p:cNvSpPr txBox="1"/>
          <p:nvPr/>
        </p:nvSpPr>
        <p:spPr>
          <a:xfrm>
            <a:off x="640080" y="479145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that is fair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4791456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generates cash from month 1. You are not financing burn, you are financing speed in a business that already carries itself.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1539728" y="6419088"/>
            <a:ext cx="128016" cy="128016"/>
          </a:xfrm>
          <a:prstGeom prst="ellipse">
            <a:avLst/>
          </a:prstGeom>
          <a:solidFill>
            <a:srgbClr val="C8452C"/>
          </a:solidFill>
          <a:ln/>
        </p:spPr>
        <p:txBody>
          <a:bodyPr/>
          <a:lstStyle/>
          <a:p>
            <a:endParaRPr lang="en-AT"/>
          </a:p>
        </p:txBody>
      </p:sp>
      <p:sp>
        <p:nvSpPr>
          <p:cNvPr id="14" name="Text 12"/>
          <p:cNvSpPr txBox="1"/>
          <p:nvPr/>
        </p:nvSpPr>
        <p:spPr>
          <a:xfrm>
            <a:off x="10972800" y="6336792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336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SCHRANZ AI SOLUTIONS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dirty="0">
                <a:solidFill>
                  <a:srgbClr val="2621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640080" y="228600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4" name="Text 2"/>
          <p:cNvSpPr txBox="1"/>
          <p:nvPr/>
        </p:nvSpPr>
        <p:spPr>
          <a:xfrm>
            <a:off x="640080" y="239572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243230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100,000 pre-seed on the terms of the returns page.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7" name="Text 5"/>
          <p:cNvSpPr txBox="1"/>
          <p:nvPr/>
        </p:nvSpPr>
        <p:spPr>
          <a:xfrm>
            <a:off x="640080" y="344728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348386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Intros: SME decision-makers in energy, construction and e-commerce across DACH.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0" name="Text 8"/>
          <p:cNvSpPr txBox="1"/>
          <p:nvPr/>
        </p:nvSpPr>
        <p:spPr>
          <a:xfrm>
            <a:off x="640080" y="4498848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845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4535424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621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board sparring per quarter. A profitable one-person company does not need more governance.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5806440"/>
            <a:ext cx="10972800" cy="0"/>
          </a:xfrm>
          <a:prstGeom prst="line">
            <a:avLst/>
          </a:prstGeom>
          <a:noFill/>
          <a:ln w="9525">
            <a:solidFill>
              <a:srgbClr val="DDD6C4"/>
            </a:solidFill>
            <a:prstDash val="solid"/>
          </a:ln>
        </p:spPr>
        <p:txBody>
          <a:bodyPr/>
          <a:lstStyle/>
          <a:p>
            <a:endParaRPr lang="en-AT"/>
          </a:p>
        </p:txBody>
      </p:sp>
      <p:sp>
        <p:nvSpPr>
          <p:cNvPr id="13" name="Text 11"/>
          <p:cNvSpPr txBox="1"/>
          <p:nvPr/>
        </p:nvSpPr>
        <p:spPr>
          <a:xfrm>
            <a:off x="640080" y="59436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Alexander Schranz · a.p.schranz@icloud.com · +43 676 344 7611 · linkedin.com/in/alexander-peter-s-16b4a4358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2000</Words>
  <Application>Microsoft Office PowerPoint</Application>
  <PresentationFormat>Widescreen</PresentationFormat>
  <Paragraphs>232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Alexander Schranz</cp:lastModifiedBy>
  <cp:revision>1</cp:revision>
  <dcterms:created xsi:type="dcterms:W3CDTF">2026-08-30T11:47:27Z</dcterms:created>
  <dcterms:modified xsi:type="dcterms:W3CDTF">2026-08-30T12:47:09Z</dcterms:modified>
</cp:coreProperties>
</file>